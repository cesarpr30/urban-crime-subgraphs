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05840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12529"/>
                </a:solidFill>
                <a:latin typeface="Segoe UI"/>
              </a:rPr>
              <a:t>Subgrafos urbanos de criminalidad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68E96"/>
                </a:solidFill>
                <a:latin typeface="Segoe UI"/>
              </a:rPr>
              <a:t>Detección topológica de hotspots sobre la red vial
Chicago 2024-2025  ·  Lima Metropolitana 2018-2025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68E96"/>
                </a:solidFill>
                <a:latin typeface="Segoe UI"/>
              </a:rPr>
              <a:t>César Pajuelo  ·  capturas reales del dashboard del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Dos ciudades, un mismo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El pipeline se valida sobre Chicago —que tiene tabla de referencia— y se aplica a Lima sin recalibrar ningún parámetro.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Lima Metropolitana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887 137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hechos retenidos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de 3.1 M denuncias del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2018-01 a 2025-06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tipos de delito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subtipo_hecho, no 5 familias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135 633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nodos de 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Chicago: 213 389 hechos · 24 meses · 4 tipos · 29 537 nodos.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El dashboard: 887 137 hechos sobre la red vial de Lima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mapa-l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365" y="1325880"/>
            <a:ext cx="420696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8E96"/>
                </a:solidFill>
                <a:latin typeface="Segoe UI"/>
              </a:rPr>
              <a:t>Selector de ciudad arriba a la izquierda · línea de tiempo arrastrable para filtrar el periodo.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ENCARGO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El número de hotspots deja de ser un parámetro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Antes se sacaban siempre los top-20. Ahora cada mes devuelve los que son estadísticamente significativos.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K adaptativo: Monte Carlo sobre la 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3 –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hotspots por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en Lima; mediana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réplicas nulas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por mes, α =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meses en el tope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max_k = 80 no se satura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ρ = 0.66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correlación con volumen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sigue a los datos sin ser función de ellos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Kulldorff (1997) adaptado a red vial por Shiode &amp; Shiode (2020). Se compara contra el máximo por réplica, así que no hace falta corregir por test múltiple.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El estadístico no puede ser el crimen capturado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extra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63394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Con crimen capturado</a:t>
            </a:r>
            <a:r>
              <a:rPr sz="1300">
                <a:solidFill>
                  <a:srgbClr val="868E96"/>
                </a:solidFill>
                <a:latin typeface="Segoe UI"/>
              </a:rPr>
              <a:t>  el nulo uniforme da regiones enormes: máximo 291 contra hotspots observados de ~55. Nada era significativo.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Con log-razón de Poisson</a:t>
            </a:r>
            <a:r>
              <a:rPr sz="1300">
                <a:solidFill>
                  <a:srgbClr val="868E96"/>
                </a:solidFill>
                <a:latin typeface="Segoe UI"/>
              </a:rPr>
              <a:t>  normalizada por tamaño, el nulo cae a media 23 y el contraste discrimina.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El fallo</a:t>
            </a:r>
            <a:r>
              <a:rPr sz="1300">
                <a:solidFill>
                  <a:srgbClr val="868E96"/>
                </a:solidFill>
                <a:latin typeface="Segoe UI"/>
              </a:rPr>
              <a:t>  era comparar concentración contra tamaño.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Sensibilidad de parámetros: 180 combinaciones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paramet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2352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σ = 120 m</a:t>
            </a:r>
            <a:r>
              <a:rPr sz="1300">
                <a:solidFill>
                  <a:srgbClr val="868E96"/>
                </a:solidFill>
                <a:latin typeface="Segoe UI"/>
              </a:rPr>
              <a:t>  es lo que recomienda el barrido sobre Lima.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Y sobre Chicago también</a:t>
            </a:r>
            <a:r>
              <a:rPr sz="1300">
                <a:solidFill>
                  <a:srgbClr val="868E96"/>
                </a:solidFill>
                <a:latin typeface="Segoe UI"/>
              </a:rPr>
              <a:t>  dos ciudades con 29 537 y 135 633 nodos convergen al mismo ancho de banda.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α</a:t>
            </a:r>
            <a:r>
              <a:rPr sz="1300">
                <a:solidFill>
                  <a:srgbClr val="868E96"/>
                </a:solidFill>
                <a:latin typeface="Segoe UI"/>
              </a:rPr>
              <a:t>  mueve la cobertura solo un 15.5 %.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Contra las líneas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evalu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1638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+14.2 %</a:t>
            </a:r>
            <a:r>
              <a:rPr sz="1300">
                <a:solidFill>
                  <a:srgbClr val="868E96"/>
                </a:solidFill>
                <a:latin typeface="Segoe UI"/>
              </a:rPr>
              <a:t>  sobre BFS voraz con la misma huella.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+40.7 %</a:t>
            </a:r>
            <a:r>
              <a:rPr sz="1300">
                <a:solidFill>
                  <a:srgbClr val="868E96"/>
                </a:solidFill>
                <a:latin typeface="Segoe UI"/>
              </a:rPr>
              <a:t>  sobre anchura pura.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Huella igualada</a:t>
            </a:r>
            <a:r>
              <a:rPr sz="1300">
                <a:solidFill>
                  <a:srgbClr val="868E96"/>
                </a:solidFill>
                <a:latin typeface="Segoe UI"/>
              </a:rPr>
              <a:t>  sin eso, comparar cobertura no mide nada.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La base recibe</a:t>
            </a:r>
            <a:r>
              <a:rPr sz="1300">
                <a:solidFill>
                  <a:srgbClr val="868E96"/>
                </a:solidFill>
                <a:latin typeface="Segoe UI"/>
              </a:rPr>
              <a:t>  tantas regiones como sacó el extractor ese 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Similitud entre subgrafos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simil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459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graph2vec, WWL, scattering</a:t>
            </a:r>
            <a:r>
              <a:rPr sz="1300">
                <a:solidFill>
                  <a:srgbClr val="868E96"/>
                </a:solidFill>
                <a:latin typeface="Segoe UI"/>
              </a:rPr>
              <a:t>  tres embeddings comparables.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§5.1</a:t>
            </a:r>
            <a:r>
              <a:rPr sz="1300">
                <a:solidFill>
                  <a:srgbClr val="868E96"/>
                </a:solidFill>
                <a:latin typeface="Segoe UI"/>
              </a:rPr>
              <a:t>  el crimen no entra en la similitud: `Subgraph` no lo lleva.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ENCARGO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Intensidad × Frecuencia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Un punto por sitio, no por subgrafo-mes. Frequency(H) = meses en que aparece ÷ meses analizados.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Intensidad × Frecuencia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-intensidad-f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1894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Arriba a la derecha</a:t>
            </a:r>
            <a:r>
              <a:rPr sz="1300">
                <a:solidFill>
                  <a:srgbClr val="868E96"/>
                </a:solidFill>
                <a:latin typeface="Segoe UI"/>
              </a:rPr>
              <a:t>  los crónicos: frecuentes e intensos.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Arriba a la izquierda</a:t>
            </a:r>
            <a:r>
              <a:rPr sz="1300">
                <a:solidFill>
                  <a:srgbClr val="868E96"/>
                </a:solidFill>
                <a:latin typeface="Segoe UI"/>
              </a:rPr>
              <a:t>  los que resaltaron por algo puntual.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Identidad</a:t>
            </a:r>
            <a:r>
              <a:rPr sz="1300">
                <a:solidFill>
                  <a:srgbClr val="868E96"/>
                </a:solidFill>
                <a:latin typeface="Segoe UI"/>
              </a:rPr>
              <a:t>  por índice de Jaccard sobre nodos, no por recuento: el recuento premia a los subgrafos grandes.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Clic</a:t>
            </a:r>
            <a:r>
              <a:rPr sz="1300">
                <a:solidFill>
                  <a:srgbClr val="868E96"/>
                </a:solidFill>
                <a:latin typeface="Segoe UI"/>
              </a:rPr>
              <a:t>  pone la trayectoria en foco sobre el mapa.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¿Persistencia implica estabilidad espacial? 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-frec-esta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513634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213 frecuentes y estables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180 frecuentes y móviles</a:t>
            </a:r>
            <a:r>
              <a:rPr sz="1300">
                <a:solidFill>
                  <a:srgbClr val="868E96"/>
                </a:solidFill>
                <a:latin typeface="Segoe UI"/>
              </a:rPr>
              <a:t>  casi mitad y mitad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Conclusión</a:t>
            </a:r>
            <a:r>
              <a:rPr sz="1300">
                <a:solidFill>
                  <a:srgbClr val="868E96"/>
                </a:solidFill>
                <a:latin typeface="Segoe UI"/>
              </a:rPr>
              <a:t>  un hotspot puede repetirse mes tras mes y estar desplazándose. Un ranking mensual no lo puede mostrar.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Cortes</a:t>
            </a:r>
            <a:r>
              <a:rPr sz="1300">
                <a:solidFill>
                  <a:srgbClr val="868E96"/>
                </a:solidFill>
                <a:latin typeface="Segoe UI"/>
              </a:rPr>
              <a:t>  medianas observadas, no valores fijos.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ESTUDIOS DE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¿Qué distingue a un hotspot persistente?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1 432 persistentes contra 1 538 episódicos, por terciles de frecuencia.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Topología: la respuesta honesta es «poco»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(falta 08-topologia.png)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POIs: el entorno separa mejor que la forma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(falta 09-pois-contraste.png)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Matching: misma forma, muy distinto crimen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(falta 10-matching.png)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ENCARGO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Validación con datos sintéticos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Réplica de Shiode &amp; Shiode (2020), §3 y §5. La única métrica absoluta del proyecto.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PPV, sensibilidad y F1 sobre verdad conocida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-sint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5734004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Proceso de Poisson</a:t>
            </a:r>
            <a:r>
              <a:rPr sz="1300">
                <a:solidFill>
                  <a:srgbClr val="868E96"/>
                </a:solidFill>
                <a:latin typeface="Segoe UI"/>
              </a:rPr>
              <a:t>  padres → hijos → fondo uniforme.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σ controla el sobredisparo</a:t>
            </a:r>
            <a:r>
              <a:rPr sz="1300">
                <a:solidFill>
                  <a:srgbClr val="868E96"/>
                </a:solidFill>
                <a:latin typeface="Segoe UI"/>
              </a:rPr>
              <a:t>  PPV 0.29 con σ=40 y 0.10 con σ=120, con sensibilidad ~1.0 en todo el rango.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La red se recorta</a:t>
            </a:r>
            <a:r>
              <a:rPr sz="1300">
                <a:solidFill>
                  <a:srgbClr val="868E96"/>
                </a:solidFill>
                <a:latin typeface="Segoe UI"/>
              </a:rPr>
              <a:t>  Shiode usa 900×750 m; sobre la ciudad entera el problema es trivial y los tres métodos empatan.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El extractor no bate a la línea base en localización exacta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-mannwhit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772400" cy="4316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41732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F1</a:t>
            </a:r>
            <a:r>
              <a:rPr sz="1300">
                <a:solidFill>
                  <a:srgbClr val="868E96"/>
                </a:solidFill>
                <a:latin typeface="Segoe UI"/>
              </a:rPr>
              <a:t>  topológico 0.172 · voraz 0.189 · p = 0.011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No es un fallo</a:t>
            </a:r>
            <a:r>
              <a:rPr sz="1300">
                <a:solidFill>
                  <a:srgbClr val="868E96"/>
                </a:solidFill>
                <a:latin typeface="Segoe UI"/>
              </a:rPr>
              <a:t>  la verdad sintética son picos puntuales, que es lo que persigue una base que crece desde los nodos calientes.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Dos preguntas distintas</a:t>
            </a:r>
            <a:r>
              <a:rPr sz="1300">
                <a:solidFill>
                  <a:srgbClr val="868E96"/>
                </a:solidFill>
                <a:latin typeface="Segoe UI"/>
              </a:rPr>
              <a:t>  ¿captura más crimen? sí, +14.2 %. ¿localiza mejor la cuadra? no, con σ = 120 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354F"/>
                </a:solidFill>
                <a:latin typeface="Segoe UI"/>
              </a:rP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12529"/>
                </a:solidFill>
                <a:latin typeface="Segoe UI"/>
              </a:rPr>
              <a:t>POIs con eje 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68E96"/>
                </a:solidFill>
                <a:latin typeface="Segoe UI"/>
              </a:rPr>
              <a:t>Ocho instantáneas anuales de OpenStreetMap, una por año de la ventana.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De Overpass a instantáneas anuales de Geofabrik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450 105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POIs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8 instantáneas, 2018-2025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0.4 %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sin clasificar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la taxonomía cubre Lima mejor que Chicago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de ingesta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sin cuota ni clave de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×3.4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education 2018→2025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el 75 % en 2018-19: una importación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Por eso el contraste va sobre cociente de localización con la red como base: una importación nacional multiplica numerador y denominador y se cancela.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Chicago: el dataset de validación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-mapa-chic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802" y="1325880"/>
            <a:ext cx="461409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8E96"/>
                </a:solidFill>
                <a:latin typeface="Segoe UI"/>
              </a:rPr>
              <a:t>Mismo pipeline, mismos parámetros. Chicago conserva K = 20 fijo porque §7.3 tabula sus valores esperados.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12529"/>
                </a:solidFill>
                <a:latin typeface="Segoe UI"/>
              </a:rPr>
              <a:t>Estado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566928" cy="28575"/>
          </a:xfrm>
          <a:prstGeom prst="rect">
            <a:avLst/>
          </a:prstGeom>
          <a:solidFill>
            <a:srgbClr val="E8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pasan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99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299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artefactos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299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por ciudad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06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σ = 120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confirmado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el barrido lo recomienda en las dos ciudades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138" y="2011680"/>
            <a:ext cx="252603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354F"/>
                </a:solidFill>
                <a:latin typeface="Segoe UI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138" y="3063240"/>
            <a:ext cx="252603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529"/>
                </a:solidFill>
                <a:latin typeface="Segoe UI"/>
              </a:rPr>
              <a:t>no comparable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5138" y="3520440"/>
            <a:ext cx="252603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68E96"/>
                </a:solidFill>
                <a:latin typeface="Segoe UI"/>
              </a:rPr>
              <a:t>solo el 4.5 % de las denuncias tiene coordenada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68E96"/>
                </a:solidFill>
                <a:latin typeface="Segoe UI"/>
              </a:rPr>
              <a:t>σ es distancia sobre la red (Dijkstra), no radio geográfico. La red es `drive`: no incluye escaleras ni pasajes peatonales.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