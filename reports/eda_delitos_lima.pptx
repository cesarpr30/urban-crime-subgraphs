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286000"/>
            <a:ext cx="1005840" cy="28575"/>
          </a:xfrm>
          <a:prstGeom prst="rect">
            <a:avLst/>
          </a:prstGeom>
          <a:solidFill>
            <a:srgbClr val="E83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1460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212529"/>
                </a:solidFill>
                <a:latin typeface="Segoe UI"/>
              </a:rPr>
              <a:t>Delitos de Lima Metropolitana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79476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868E96"/>
                </a:solidFill>
                <a:latin typeface="Segoe UI"/>
              </a:rPr>
              <a:t>Análisis exploratorio del dataset 2018-2025
Policía Nacional del Perú  ·  3 137 221 denuncias, 58 columnas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521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68E96"/>
                </a:solidFill>
                <a:latin typeface="Segoe UI"/>
              </a:rPr>
              <a:t>César Pajuelo  ·  figuras de notebooks/eda_delitos_lima.ipynb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212529"/>
                </a:solidFill>
                <a:latin typeface="Segoe UI"/>
              </a:rPr>
              <a:t>El dataset de un vistazo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969264"/>
            <a:ext cx="566928" cy="28575"/>
          </a:xfrm>
          <a:prstGeom prst="rect">
            <a:avLst/>
          </a:prstGeom>
          <a:solidFill>
            <a:srgbClr val="E83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011680"/>
            <a:ext cx="252603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E8354F"/>
                </a:solidFill>
                <a:latin typeface="Segoe UI"/>
              </a:rPr>
              <a:t>3.14 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3063240"/>
            <a:ext cx="252603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12529"/>
                </a:solidFill>
                <a:latin typeface="Segoe UI"/>
              </a:rPr>
              <a:t>denuncias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520440"/>
            <a:ext cx="252603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868E96"/>
                </a:solidFill>
                <a:latin typeface="Segoe UI"/>
              </a:rPr>
              <a:t>enero 2018 – junio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12998" y="2011680"/>
            <a:ext cx="252603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E8354F"/>
                </a:solidFill>
                <a:latin typeface="Segoe UI"/>
              </a:rPr>
              <a:t>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12998" y="3063240"/>
            <a:ext cx="252603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12529"/>
                </a:solidFill>
                <a:latin typeface="Segoe UI"/>
              </a:rPr>
              <a:t>columnas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12998" y="3520440"/>
            <a:ext cx="252603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868E96"/>
                </a:solidFill>
                <a:latin typeface="Segoe UI"/>
              </a:rPr>
              <a:t>de las que el pipeline usa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59068" y="2011680"/>
            <a:ext cx="252603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E8354F"/>
                </a:solidFill>
                <a:latin typeface="Segoe UI"/>
              </a:rPr>
              <a:t>52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59068" y="3063240"/>
            <a:ext cx="252603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12529"/>
                </a:solidFill>
                <a:latin typeface="Segoe UI"/>
              </a:rPr>
              <a:t>valores de tipo_hecho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59068" y="3520440"/>
            <a:ext cx="252603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868E96"/>
                </a:solidFill>
                <a:latin typeface="Segoe UI"/>
              </a:rPr>
              <a:t>y 35 subtipos relevantes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05138" y="2011680"/>
            <a:ext cx="252603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E8354F"/>
                </a:solidFill>
                <a:latin typeface="Segoe UI"/>
              </a:rPr>
              <a:t>43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05138" y="3063240"/>
            <a:ext cx="252603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12529"/>
                </a:solidFill>
                <a:latin typeface="Segoe UI"/>
              </a:rPr>
              <a:t>distritos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05138" y="3520440"/>
            <a:ext cx="252603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868E96"/>
                </a:solidFill>
                <a:latin typeface="Segoe UI"/>
              </a:rPr>
              <a:t>Lima Metropolitana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4688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8354F"/>
                </a:solidFill>
                <a:latin typeface="Segoe UI"/>
              </a:rPr>
              <a:t>ESTRUCTURA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88036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212529"/>
                </a:solidFill>
                <a:latin typeface="Segoe UI"/>
              </a:rPr>
              <a:t>Qué columnas hacen falta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91440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868E96"/>
                </a:solidFill>
                <a:latin typeface="Segoe UI"/>
              </a:rPr>
              <a:t>De 58 columnas, seis. El resto son identificadores administrativos y jerarquía policial redundante.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212529"/>
                </a:solidFill>
                <a:latin typeface="Segoe UI"/>
              </a:rPr>
              <a:t>Completitud de las columnas que se usan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969264"/>
            <a:ext cx="566928" cy="28575"/>
          </a:xfrm>
          <a:prstGeom prst="rect">
            <a:avLst/>
          </a:prstGeom>
          <a:solidFill>
            <a:srgbClr val="E83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1-nul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325880"/>
            <a:ext cx="7772400" cy="35836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95360" y="1417320"/>
            <a:ext cx="310896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700"/>
              </a:spcAft>
            </a:pPr>
            <a:r>
              <a:rPr sz="1300" b="1">
                <a:solidFill>
                  <a:srgbClr val="212529"/>
                </a:solidFill>
                <a:latin typeface="Segoe UI"/>
              </a:rPr>
              <a:t>Coordenadas</a:t>
            </a:r>
            <a:r>
              <a:rPr sz="1300">
                <a:solidFill>
                  <a:srgbClr val="868E96"/>
                </a:solidFill>
                <a:latin typeface="Segoe UI"/>
              </a:rPr>
              <a:t>  el campo más incompleto, y el que decide si una denuncia sirve.</a:t>
            </a:r>
          </a:p>
          <a:p>
            <a:pPr>
              <a:lnSpc>
                <a:spcPct val="128000"/>
              </a:lnSpc>
              <a:spcAft>
                <a:spcPts val="700"/>
              </a:spcAft>
            </a:pPr>
            <a:r>
              <a:rPr sz="1300" b="1">
                <a:solidFill>
                  <a:srgbClr val="212529"/>
                </a:solidFill>
                <a:latin typeface="Segoe UI"/>
              </a:rPr>
              <a:t>direccion_hecho</a:t>
            </a:r>
            <a:r>
              <a:rPr sz="1300">
                <a:solidFill>
                  <a:srgbClr val="868E96"/>
                </a:solidFill>
                <a:latin typeface="Segoe UI"/>
              </a:rPr>
              <a:t>  sirve de respaldo cuando falta la coordenada.</a:t>
            </a:r>
          </a:p>
          <a:p>
            <a:pPr>
              <a:lnSpc>
                <a:spcPct val="128000"/>
              </a:lnSpc>
              <a:spcAft>
                <a:spcPts val="700"/>
              </a:spcAft>
            </a:pPr>
            <a:r>
              <a:rPr sz="1300" b="1">
                <a:solidFill>
                  <a:srgbClr val="212529"/>
                </a:solidFill>
                <a:latin typeface="Segoe UI"/>
              </a:rPr>
              <a:t>Las demás</a:t>
            </a:r>
            <a:r>
              <a:rPr sz="1300">
                <a:solidFill>
                  <a:srgbClr val="868E96"/>
                </a:solidFill>
                <a:latin typeface="Segoe UI"/>
              </a:rPr>
              <a:t>  esencialmente completas.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4688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8354F"/>
                </a:solidFill>
                <a:latin typeface="Segoe UI"/>
              </a:rPr>
              <a:t>LIMPIEZA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88036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212529"/>
                </a:solidFill>
                <a:latin typeface="Segoe UI"/>
              </a:rPr>
              <a:t>id_dgc no es una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91440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868E96"/>
                </a:solidFill>
                <a:latin typeface="Segoe UI"/>
              </a:rPr>
              <a:t>Una denuncia con varios delitos imputados aparece repetida, una fila por combinación.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212529"/>
                </a:solidFill>
                <a:latin typeface="Segoe UI"/>
              </a:rPr>
              <a:t>Una denuncia puede llevar varios delitos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969264"/>
            <a:ext cx="566928" cy="28575"/>
          </a:xfrm>
          <a:prstGeom prst="rect">
            <a:avLst/>
          </a:prstGeom>
          <a:solidFill>
            <a:srgbClr val="E83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2-duplicad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325880"/>
            <a:ext cx="7772400" cy="461838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95360" y="1417320"/>
            <a:ext cx="310896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700"/>
              </a:spcAft>
            </a:pPr>
            <a:r>
              <a:rPr sz="1300" b="1">
                <a:solidFill>
                  <a:srgbClr val="212529"/>
                </a:solidFill>
                <a:latin typeface="Segoe UI"/>
              </a:rPr>
              <a:t>Deduplicar por id_dgc</a:t>
            </a:r>
            <a:r>
              <a:rPr sz="1300">
                <a:solidFill>
                  <a:srgbClr val="868E96"/>
                </a:solidFill>
                <a:latin typeface="Segoe UI"/>
              </a:rPr>
              <a:t>  borraría delitos distintos que comparten expediente.</a:t>
            </a:r>
          </a:p>
          <a:p>
            <a:pPr>
              <a:lnSpc>
                <a:spcPct val="128000"/>
              </a:lnSpc>
              <a:spcAft>
                <a:spcPts val="700"/>
              </a:spcAft>
            </a:pPr>
            <a:r>
              <a:rPr sz="1300" b="1">
                <a:solidFill>
                  <a:srgbClr val="212529"/>
                </a:solidFill>
                <a:latin typeface="Segoe UI"/>
              </a:rPr>
              <a:t>La clave correcta</a:t>
            </a:r>
            <a:r>
              <a:rPr sz="1300">
                <a:solidFill>
                  <a:srgbClr val="868E96"/>
                </a:solidFill>
                <a:latin typeface="Segoe UI"/>
              </a:rPr>
              <a:t>  (id_dgc, subtipo_hecho, modalidad_hecho): identifica el hecho dentro de la denuncia.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4688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8354F"/>
                </a:solidFill>
                <a:latin typeface="Segoe UI"/>
              </a:rPr>
              <a:t>ALCANCE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88036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212529"/>
                </a:solidFill>
                <a:latin typeface="Segoe UI"/>
              </a:rPr>
              <a:t>Qué delitos entran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91440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868E96"/>
                </a:solidFill>
                <a:latin typeface="Segoe UI"/>
              </a:rPr>
              <a:t>La unidad de análisis es la calle: solo sirven los hechos con localización con sentido sobre la red vial.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212529"/>
                </a:solidFill>
                <a:latin typeface="Segoe UI"/>
              </a:rPr>
              <a:t>tipo_hecho: cinco familias de vía pública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969264"/>
            <a:ext cx="566928" cy="28575"/>
          </a:xfrm>
          <a:prstGeom prst="rect">
            <a:avLst/>
          </a:prstGeom>
          <a:solidFill>
            <a:srgbClr val="E83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3-tip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325880"/>
            <a:ext cx="7772400" cy="381188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95360" y="1417320"/>
            <a:ext cx="310896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700"/>
              </a:spcAft>
            </a:pPr>
            <a:r>
              <a:rPr sz="1300" b="1">
                <a:solidFill>
                  <a:srgbClr val="212529"/>
                </a:solidFill>
                <a:latin typeface="Segoe UI"/>
              </a:rPr>
              <a:t>En rojo</a:t>
            </a:r>
            <a:r>
              <a:rPr sz="1300">
                <a:solidFill>
                  <a:srgbClr val="868E96"/>
                </a:solidFill>
                <a:latin typeface="Segoe UI"/>
              </a:rPr>
              <a:t>  lo que entra al pipeline.</a:t>
            </a:r>
          </a:p>
          <a:p>
            <a:pPr>
              <a:lnSpc>
                <a:spcPct val="128000"/>
              </a:lnSpc>
              <a:spcAft>
                <a:spcPts val="700"/>
              </a:spcAft>
            </a:pPr>
            <a:r>
              <a:rPr sz="1300" b="1">
                <a:solidFill>
                  <a:srgbClr val="212529"/>
                </a:solidFill>
                <a:latin typeface="Segoe UI"/>
              </a:rPr>
              <a:t>Se descartan</a:t>
            </a:r>
            <a:r>
              <a:rPr sz="1300">
                <a:solidFill>
                  <a:srgbClr val="868E96"/>
                </a:solidFill>
                <a:latin typeface="Segoe UI"/>
              </a:rPr>
              <a:t>  los administrativos y los que se localizan en el domicilio de la víctima, no en el lugar del hecho.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212529"/>
                </a:solidFill>
                <a:latin typeface="Segoe UI"/>
              </a:rPr>
              <a:t>Pero tipo_hecho es demasiado grueso para ser el eje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969264"/>
            <a:ext cx="566928" cy="28575"/>
          </a:xfrm>
          <a:prstGeom prst="rect">
            <a:avLst/>
          </a:prstGeom>
          <a:solidFill>
            <a:srgbClr val="E83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4-subtip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325880"/>
            <a:ext cx="7772400" cy="422291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95360" y="1417320"/>
            <a:ext cx="310896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700"/>
              </a:spcAft>
            </a:pPr>
            <a:r>
              <a:rPr sz="1300" b="1">
                <a:solidFill>
                  <a:srgbClr val="212529"/>
                </a:solidFill>
                <a:latin typeface="Segoe UI"/>
              </a:rPr>
              <a:t>PATRIMONIO (DELITO)</a:t>
            </a:r>
            <a:r>
              <a:rPr sz="1300">
                <a:solidFill>
                  <a:srgbClr val="868E96"/>
                </a:solidFill>
                <a:latin typeface="Segoe UI"/>
              </a:rPr>
              <a:t>  mete hurto, robo, extorsión y estafa en la misma caja.</a:t>
            </a:r>
          </a:p>
          <a:p>
            <a:pPr>
              <a:lnSpc>
                <a:spcPct val="128000"/>
              </a:lnSpc>
              <a:spcAft>
                <a:spcPts val="700"/>
              </a:spcAft>
            </a:pPr>
            <a:r>
              <a:rPr sz="1300" b="1">
                <a:solidFill>
                  <a:srgbClr val="212529"/>
                </a:solidFill>
                <a:latin typeface="Segoe UI"/>
              </a:rPr>
              <a:t>El nivel equivalente</a:t>
            </a:r>
            <a:r>
              <a:rPr sz="1300">
                <a:solidFill>
                  <a:srgbClr val="868E96"/>
                </a:solidFill>
                <a:latin typeface="Segoe UI"/>
              </a:rPr>
              <a:t>  al Primary Type de Chicago es subtipo_hecho: 35 tipos.</a:t>
            </a:r>
          </a:p>
          <a:p>
            <a:pPr>
              <a:lnSpc>
                <a:spcPct val="128000"/>
              </a:lnSpc>
              <a:spcAft>
                <a:spcPts val="700"/>
              </a:spcAft>
            </a:pPr>
            <a:r>
              <a:rPr sz="1300" b="1">
                <a:solidFill>
                  <a:srgbClr val="212529"/>
                </a:solidFill>
                <a:latin typeface="Segoe UI"/>
              </a:rPr>
              <a:t>Decisión</a:t>
            </a:r>
            <a:r>
              <a:rPr sz="1300">
                <a:solidFill>
                  <a:srgbClr val="868E96"/>
                </a:solidFill>
                <a:latin typeface="Segoe UI"/>
              </a:rPr>
              <a:t>  el alcance se decide sobre tipo_hecho; el eje de categorías es subtipo_hecho.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4688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8354F"/>
                </a:solidFill>
                <a:latin typeface="Segoe UI"/>
              </a:rPr>
              <a:t>CALIDAD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88036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212529"/>
                </a:solidFill>
                <a:latin typeface="Segoe UI"/>
              </a:rPr>
              <a:t>¿Son de fiar las coordenadas?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91440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868E96"/>
                </a:solidFill>
                <a:latin typeface="Segoe UI"/>
              </a:rPr>
              <a:t>No todas, y el propio dataset lo dice.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212529"/>
                </a:solidFill>
                <a:latin typeface="Segoe UI"/>
              </a:rPr>
              <a:t>Coordenadas que se repiten miles de veces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969264"/>
            <a:ext cx="566928" cy="28575"/>
          </a:xfrm>
          <a:prstGeom prst="rect">
            <a:avLst/>
          </a:prstGeom>
          <a:solidFill>
            <a:srgbClr val="E83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5-puntos-repetid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325880"/>
            <a:ext cx="7772400" cy="449224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95360" y="1417320"/>
            <a:ext cx="310896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700"/>
              </a:spcAft>
            </a:pPr>
            <a:r>
              <a:rPr sz="1300" b="1">
                <a:solidFill>
                  <a:srgbClr val="212529"/>
                </a:solidFill>
                <a:latin typeface="Segoe UI"/>
              </a:rPr>
              <a:t>Los puntos más repetidos</a:t>
            </a:r>
            <a:r>
              <a:rPr sz="1300">
                <a:solidFill>
                  <a:srgbClr val="868E96"/>
                </a:solidFill>
                <a:latin typeface="Segoe UI"/>
              </a:rPr>
              <a:t>  son centroides de comisaría, no lugares del hecho.</a:t>
            </a:r>
          </a:p>
          <a:p>
            <a:pPr>
              <a:lnSpc>
                <a:spcPct val="128000"/>
              </a:lnSpc>
              <a:spcAft>
                <a:spcPts val="700"/>
              </a:spcAft>
            </a:pPr>
            <a:r>
              <a:rPr sz="1300" b="1">
                <a:solidFill>
                  <a:srgbClr val="212529"/>
                </a:solidFill>
                <a:latin typeface="Segoe UI"/>
              </a:rPr>
              <a:t>Si se dejan dentro</a:t>
            </a:r>
            <a:r>
              <a:rPr sz="1300">
                <a:solidFill>
                  <a:srgbClr val="868E96"/>
                </a:solidFill>
                <a:latin typeface="Segoe UI"/>
              </a:rPr>
              <a:t>  aparece un hotspot en la puerta de cada comisaría.</a:t>
            </a:r>
          </a:p>
          <a:p>
            <a:pPr>
              <a:lnSpc>
                <a:spcPct val="128000"/>
              </a:lnSpc>
              <a:spcAft>
                <a:spcPts val="700"/>
              </a:spcAft>
            </a:pPr>
            <a:r>
              <a:rPr sz="1300" b="1">
                <a:solidFill>
                  <a:srgbClr val="212529"/>
                </a:solidFill>
                <a:latin typeface="Segoe UI"/>
              </a:rPr>
              <a:t>El campo observacion</a:t>
            </a:r>
            <a:r>
              <a:rPr sz="1300">
                <a:solidFill>
                  <a:srgbClr val="868E96"/>
                </a:solidFill>
                <a:latin typeface="Segoe UI"/>
              </a:rPr>
              <a:t>  los marca explícitamente.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212529"/>
                </a:solidFill>
                <a:latin typeface="Segoe UI"/>
              </a:rPr>
              <a:t>La geocodificación se degrada, y en 2025 colapsa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969264"/>
            <a:ext cx="566928" cy="28575"/>
          </a:xfrm>
          <a:prstGeom prst="rect">
            <a:avLst/>
          </a:prstGeom>
          <a:solidFill>
            <a:srgbClr val="E83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11-geocodifica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325880"/>
            <a:ext cx="7772400" cy="371801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95360" y="1417320"/>
            <a:ext cx="310896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700"/>
              </a:spcAft>
            </a:pPr>
            <a:r>
              <a:rPr sz="1300" b="1">
                <a:solidFill>
                  <a:srgbClr val="212529"/>
                </a:solidFill>
                <a:latin typeface="Segoe UI"/>
              </a:rPr>
              <a:t>2018</a:t>
            </a:r>
            <a:r>
              <a:rPr sz="1300">
                <a:solidFill>
                  <a:srgbClr val="868E96"/>
                </a:solidFill>
                <a:latin typeface="Segoe UI"/>
              </a:rPr>
              <a:t>  92.5 % con coordenada real.</a:t>
            </a:r>
          </a:p>
          <a:p>
            <a:pPr>
              <a:lnSpc>
                <a:spcPct val="128000"/>
              </a:lnSpc>
              <a:spcAft>
                <a:spcPts val="700"/>
              </a:spcAft>
            </a:pPr>
            <a:r>
              <a:rPr sz="1300" b="1">
                <a:solidFill>
                  <a:srgbClr val="212529"/>
                </a:solidFill>
                <a:latin typeface="Segoe UI"/>
              </a:rPr>
              <a:t>2024</a:t>
            </a:r>
            <a:r>
              <a:rPr sz="1300">
                <a:solidFill>
                  <a:srgbClr val="868E96"/>
                </a:solidFill>
                <a:latin typeface="Segoe UI"/>
              </a:rPr>
              <a:t>  34.8 %.</a:t>
            </a:r>
          </a:p>
          <a:p>
            <a:pPr>
              <a:lnSpc>
                <a:spcPct val="128000"/>
              </a:lnSpc>
              <a:spcAft>
                <a:spcPts val="700"/>
              </a:spcAft>
            </a:pPr>
            <a:r>
              <a:rPr sz="1300" b="1">
                <a:solidFill>
                  <a:srgbClr val="212529"/>
                </a:solidFill>
                <a:latin typeface="Segoe UI"/>
              </a:rPr>
              <a:t>2025</a:t>
            </a:r>
            <a:r>
              <a:rPr sz="1300">
                <a:solidFill>
                  <a:srgbClr val="868E96"/>
                </a:solidFill>
                <a:latin typeface="Segoe UI"/>
              </a:rPr>
              <a:t>  7.0 %.</a:t>
            </a:r>
          </a:p>
          <a:p>
            <a:pPr>
              <a:lnSpc>
                <a:spcPct val="128000"/>
              </a:lnSpc>
              <a:spcAft>
                <a:spcPts val="700"/>
              </a:spcAft>
            </a:pPr>
            <a:r>
              <a:rPr sz="1300" b="1">
                <a:solidFill>
                  <a:srgbClr val="212529"/>
                </a:solidFill>
                <a:latin typeface="Segoe UI"/>
              </a:rPr>
              <a:t>El resto</a:t>
            </a:r>
            <a:r>
              <a:rPr sz="1300">
                <a:solidFill>
                  <a:srgbClr val="868E96"/>
                </a:solidFill>
                <a:latin typeface="Segoe UI"/>
              </a:rPr>
              <a:t>  recibe el centroide de su comisaría.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212529"/>
                </a:solidFill>
                <a:latin typeface="Segoe UI"/>
              </a:rPr>
              <a:t>Consecuencia: 2025 no es comparable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969264"/>
            <a:ext cx="566928" cy="28575"/>
          </a:xfrm>
          <a:prstGeom prst="rect">
            <a:avLst/>
          </a:prstGeom>
          <a:solidFill>
            <a:srgbClr val="E83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12-crudo-vs-utiliz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325880"/>
            <a:ext cx="7772400" cy="378715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95360" y="1417320"/>
            <a:ext cx="310896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700"/>
              </a:spcAft>
            </a:pPr>
            <a:r>
              <a:rPr sz="1300" b="1">
                <a:solidFill>
                  <a:srgbClr val="212529"/>
                </a:solidFill>
                <a:latin typeface="Segoe UI"/>
              </a:rPr>
              <a:t>Solo el 4.5 %</a:t>
            </a:r>
            <a:r>
              <a:rPr sz="1300">
                <a:solidFill>
                  <a:srgbClr val="868E96"/>
                </a:solidFill>
                <a:latin typeface="Segoe UI"/>
              </a:rPr>
              <a:t>  de las denuncias de 2025 llega al pipeline.</a:t>
            </a:r>
          </a:p>
          <a:p>
            <a:pPr>
              <a:lnSpc>
                <a:spcPct val="128000"/>
              </a:lnSpc>
              <a:spcAft>
                <a:spcPts val="700"/>
              </a:spcAft>
            </a:pPr>
            <a:r>
              <a:rPr sz="1300" b="1">
                <a:solidFill>
                  <a:srgbClr val="212529"/>
                </a:solidFill>
                <a:latin typeface="Segoe UI"/>
              </a:rPr>
              <a:t>Los hotspots de 2025</a:t>
            </a:r>
            <a:r>
              <a:rPr sz="1300">
                <a:solidFill>
                  <a:srgbClr val="868E96"/>
                </a:solidFill>
                <a:latin typeface="Segoe UI"/>
              </a:rPr>
              <a:t>  se calculan sobre esa fracción.</a:t>
            </a:r>
          </a:p>
          <a:p>
            <a:pPr>
              <a:lnSpc>
                <a:spcPct val="128000"/>
              </a:lnSpc>
              <a:spcAft>
                <a:spcPts val="700"/>
              </a:spcAft>
            </a:pPr>
            <a:r>
              <a:rPr sz="1300" b="1">
                <a:solidFill>
                  <a:srgbClr val="212529"/>
                </a:solidFill>
                <a:latin typeface="Segoe UI"/>
              </a:rPr>
              <a:t>Al escribir</a:t>
            </a:r>
            <a:r>
              <a:rPr sz="1300">
                <a:solidFill>
                  <a:srgbClr val="868E96"/>
                </a:solidFill>
                <a:latin typeface="Segoe UI"/>
              </a:rPr>
              <a:t>  decirlo, o truncar la ventana en 2024.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4688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8354F"/>
                </a:solidFill>
                <a:latin typeface="Segoe UI"/>
              </a:rPr>
              <a:t>PATRONES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88036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212529"/>
                </a:solidFill>
                <a:latin typeface="Segoe UI"/>
              </a:rPr>
              <a:t>Cómo se distribuye el delito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91440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868E96"/>
                </a:solidFill>
                <a:latin typeface="Segoe UI"/>
              </a:rPr>
              <a:t>En el tiempo, en el día y en el espacio.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212529"/>
                </a:solidFill>
                <a:latin typeface="Segoe UI"/>
              </a:rPr>
              <a:t>La serie no baja: termina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969264"/>
            <a:ext cx="566928" cy="28575"/>
          </a:xfrm>
          <a:prstGeom prst="rect">
            <a:avLst/>
          </a:prstGeom>
          <a:solidFill>
            <a:srgbClr val="E83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6-serie-mens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325880"/>
            <a:ext cx="7772400" cy="316148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95360" y="1417320"/>
            <a:ext cx="310896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700"/>
              </a:spcAft>
            </a:pPr>
            <a:r>
              <a:rPr sz="1300" b="1">
                <a:solidFill>
                  <a:srgbClr val="212529"/>
                </a:solidFill>
                <a:latin typeface="Segoe UI"/>
              </a:rPr>
              <a:t>2020</a:t>
            </a:r>
            <a:r>
              <a:rPr sz="1300">
                <a:solidFill>
                  <a:srgbClr val="868E96"/>
                </a:solidFill>
                <a:latin typeface="Segoe UI"/>
              </a:rPr>
              <a:t>  el corte de COVID-19 es real y brusco.</a:t>
            </a:r>
          </a:p>
          <a:p>
            <a:pPr>
              <a:lnSpc>
                <a:spcPct val="128000"/>
              </a:lnSpc>
              <a:spcAft>
                <a:spcPts val="700"/>
              </a:spcAft>
            </a:pPr>
            <a:r>
              <a:rPr sz="1300" b="1">
                <a:solidFill>
                  <a:srgbClr val="212529"/>
                </a:solidFill>
                <a:latin typeface="Segoe UI"/>
              </a:rPr>
              <a:t>2021-2024</a:t>
            </a:r>
            <a:r>
              <a:rPr sz="1300">
                <a:solidFill>
                  <a:srgbClr val="868E96"/>
                </a:solidFill>
                <a:latin typeface="Segoe UI"/>
              </a:rPr>
              <a:t>  recuperación y crecimiento sostenido.</a:t>
            </a:r>
          </a:p>
          <a:p>
            <a:pPr>
              <a:lnSpc>
                <a:spcPct val="128000"/>
              </a:lnSpc>
              <a:spcAft>
                <a:spcPts val="700"/>
              </a:spcAft>
            </a:pPr>
            <a:r>
              <a:rPr sz="1300" b="1">
                <a:solidFill>
                  <a:srgbClr val="212529"/>
                </a:solidFill>
                <a:latin typeface="Segoe UI"/>
              </a:rPr>
              <a:t>Junio 2025</a:t>
            </a:r>
            <a:r>
              <a:rPr sz="1300">
                <a:solidFill>
                  <a:srgbClr val="868E96"/>
                </a:solidFill>
                <a:latin typeface="Segoe UI"/>
              </a:rPr>
              <a:t>  último mes con datos, no una caída.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212529"/>
                </a:solidFill>
                <a:latin typeface="Segoe UI"/>
              </a:rPr>
              <a:t>Perfil horario y semanal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969264"/>
            <a:ext cx="566928" cy="28575"/>
          </a:xfrm>
          <a:prstGeom prst="rect">
            <a:avLst/>
          </a:prstGeom>
          <a:solidFill>
            <a:srgbClr val="E83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7-perfil-tempor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325880"/>
            <a:ext cx="7772399" cy="26005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95360" y="1417320"/>
            <a:ext cx="310896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700"/>
              </a:spcAft>
            </a:pPr>
            <a:r>
              <a:rPr sz="1300" b="1">
                <a:solidFill>
                  <a:srgbClr val="212529"/>
                </a:solidFill>
                <a:latin typeface="Segoe UI"/>
              </a:rPr>
              <a:t>Picos en horas redondas</a:t>
            </a:r>
            <a:r>
              <a:rPr sz="1300">
                <a:solidFill>
                  <a:srgbClr val="868E96"/>
                </a:solidFill>
                <a:latin typeface="Segoe UI"/>
              </a:rPr>
              <a:t>  señal de hora imputada, no observada.</a:t>
            </a:r>
          </a:p>
          <a:p>
            <a:pPr>
              <a:lnSpc>
                <a:spcPct val="128000"/>
              </a:lnSpc>
              <a:spcAft>
                <a:spcPts val="700"/>
              </a:spcAft>
            </a:pPr>
            <a:r>
              <a:rPr sz="1300" b="1">
                <a:solidFill>
                  <a:srgbClr val="212529"/>
                </a:solidFill>
                <a:latin typeface="Segoe UI"/>
              </a:rPr>
              <a:t>Conviene</a:t>
            </a:r>
            <a:r>
              <a:rPr sz="1300">
                <a:solidFill>
                  <a:srgbClr val="868E96"/>
                </a:solidFill>
                <a:latin typeface="Segoe UI"/>
              </a:rPr>
              <a:t>  no leer el perfil horario como si fuera exacto.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212529"/>
                </a:solidFill>
                <a:latin typeface="Segoe UI"/>
              </a:rPr>
              <a:t>Concentración por distrito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969264"/>
            <a:ext cx="566928" cy="28575"/>
          </a:xfrm>
          <a:prstGeom prst="rect">
            <a:avLst/>
          </a:prstGeom>
          <a:solidFill>
            <a:srgbClr val="E83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8-distri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325880"/>
            <a:ext cx="7772400" cy="45153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95360" y="1417320"/>
            <a:ext cx="310896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700"/>
              </a:spcAft>
            </a:pPr>
            <a:r>
              <a:rPr sz="1300" b="1">
                <a:solidFill>
                  <a:srgbClr val="212529"/>
                </a:solidFill>
                <a:latin typeface="Segoe UI"/>
              </a:rPr>
              <a:t>Muy desigual</a:t>
            </a:r>
            <a:r>
              <a:rPr sz="1300">
                <a:solidFill>
                  <a:srgbClr val="868E96"/>
                </a:solidFill>
                <a:latin typeface="Segoe UI"/>
              </a:rPr>
              <a:t>  y es esperable: San Juan de Lurigancho tiene un millón de habitantes.</a:t>
            </a:r>
          </a:p>
          <a:p>
            <a:pPr>
              <a:lnSpc>
                <a:spcPct val="128000"/>
              </a:lnSpc>
              <a:spcAft>
                <a:spcPts val="700"/>
              </a:spcAft>
            </a:pPr>
            <a:r>
              <a:rPr sz="1300" b="1">
                <a:solidFill>
                  <a:srgbClr val="212529"/>
                </a:solidFill>
                <a:latin typeface="Segoe UI"/>
              </a:rPr>
              <a:t>Sin normalizar por población</a:t>
            </a:r>
            <a:r>
              <a:rPr sz="1300">
                <a:solidFill>
                  <a:srgbClr val="868E96"/>
                </a:solidFill>
                <a:latin typeface="Segoe UI"/>
              </a:rPr>
              <a:t>  el ranking mide tamaño, no riesgo.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212529"/>
                </a:solidFill>
                <a:latin typeface="Segoe UI"/>
              </a:rPr>
              <a:t>120 000 denuncias geolocalizadas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969264"/>
            <a:ext cx="566928" cy="28575"/>
          </a:xfrm>
          <a:prstGeom prst="rect">
            <a:avLst/>
          </a:prstGeom>
          <a:solidFill>
            <a:srgbClr val="E83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9-nu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8384" y="1325880"/>
            <a:ext cx="4394927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640080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68E96"/>
                </a:solidFill>
                <a:latin typeface="Segoe UI"/>
              </a:rPr>
              <a:t>La forma de Lima sale sola. Las líneas rectas y los grumos regulares son artefactos de geocodificación.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212529"/>
                </a:solidFill>
                <a:latin typeface="Segoe UI"/>
              </a:rPr>
              <a:t>Del CSV al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969264"/>
            <a:ext cx="566928" cy="28575"/>
          </a:xfrm>
          <a:prstGeom prst="rect">
            <a:avLst/>
          </a:prstGeom>
          <a:solidFill>
            <a:srgbClr val="E83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10-embu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325880"/>
            <a:ext cx="7772400" cy="298827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95360" y="1417320"/>
            <a:ext cx="310896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700"/>
              </a:spcAft>
            </a:pPr>
            <a:r>
              <a:rPr sz="1300" b="1">
                <a:solidFill>
                  <a:srgbClr val="212529"/>
                </a:solidFill>
                <a:latin typeface="Segoe UI"/>
              </a:rPr>
              <a:t>3.14 M</a:t>
            </a:r>
            <a:r>
              <a:rPr sz="1300">
                <a:solidFill>
                  <a:srgbClr val="868E96"/>
                </a:solidFill>
                <a:latin typeface="Segoe UI"/>
              </a:rPr>
              <a:t>  denuncias en el CSV.</a:t>
            </a:r>
          </a:p>
          <a:p>
            <a:pPr>
              <a:lnSpc>
                <a:spcPct val="128000"/>
              </a:lnSpc>
              <a:spcAft>
                <a:spcPts val="700"/>
              </a:spcAft>
            </a:pPr>
            <a:r>
              <a:rPr sz="1300" b="1">
                <a:solidFill>
                  <a:srgbClr val="212529"/>
                </a:solidFill>
                <a:latin typeface="Segoe UI"/>
              </a:rPr>
              <a:t>887 137</a:t>
            </a:r>
            <a:r>
              <a:rPr sz="1300">
                <a:solidFill>
                  <a:srgbClr val="868E96"/>
                </a:solidFill>
                <a:latin typeface="Segoe UI"/>
              </a:rPr>
              <a:t>  llegan al pipeline.</a:t>
            </a:r>
          </a:p>
          <a:p>
            <a:pPr>
              <a:lnSpc>
                <a:spcPct val="128000"/>
              </a:lnSpc>
              <a:spcAft>
                <a:spcPts val="700"/>
              </a:spcAft>
            </a:pPr>
            <a:r>
              <a:rPr sz="1300" b="1">
                <a:solidFill>
                  <a:srgbClr val="212529"/>
                </a:solidFill>
                <a:latin typeface="Segoe UI"/>
              </a:rPr>
              <a:t>La mayor pérdida</a:t>
            </a:r>
            <a:r>
              <a:rPr sz="1300">
                <a:solidFill>
                  <a:srgbClr val="868E96"/>
                </a:solidFill>
                <a:latin typeface="Segoe UI"/>
              </a:rPr>
              <a:t>  no es el filtro de delitos: es la geocodificación.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212529"/>
                </a:solidFill>
                <a:latin typeface="Segoe UI"/>
              </a:rPr>
              <a:t>Las cinco decisiones de limpieza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969264"/>
            <a:ext cx="566928" cy="28575"/>
          </a:xfrm>
          <a:prstGeom prst="rect">
            <a:avLst/>
          </a:prstGeom>
          <a:solidFill>
            <a:srgbClr val="E83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011680"/>
            <a:ext cx="252603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E8354F"/>
                </a:solidFill>
                <a:latin typeface="Segoe UI"/>
              </a:rPr>
              <a:t>6 / 58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3063240"/>
            <a:ext cx="252603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12529"/>
                </a:solidFill>
                <a:latin typeface="Segoe UI"/>
              </a:rPr>
              <a:t>columnas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520440"/>
            <a:ext cx="252603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868E96"/>
                </a:solidFill>
                <a:latin typeface="Segoe UI"/>
              </a:rPr>
              <a:t>el resto es jerarquía administrativa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12998" y="2011680"/>
            <a:ext cx="252603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E8354F"/>
                </a:solidFill>
                <a:latin typeface="Segoe UI"/>
              </a:rPr>
              <a:t>3 campos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12998" y="3063240"/>
            <a:ext cx="252603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12529"/>
                </a:solidFill>
                <a:latin typeface="Segoe UI"/>
              </a:rPr>
              <a:t>clave de dedupe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12998" y="3520440"/>
            <a:ext cx="252603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868E96"/>
                </a:solidFill>
                <a:latin typeface="Segoe UI"/>
              </a:rPr>
              <a:t>id + subtipo + modalidad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59068" y="2011680"/>
            <a:ext cx="252603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E8354F"/>
                </a:solidFill>
                <a:latin typeface="Segoe UI"/>
              </a:rPr>
              <a:t>5 familias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59068" y="3063240"/>
            <a:ext cx="252603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12529"/>
                </a:solidFill>
                <a:latin typeface="Segoe UI"/>
              </a:rPr>
              <a:t>de vía pública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59068" y="3520440"/>
            <a:ext cx="252603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868E96"/>
                </a:solidFill>
                <a:latin typeface="Segoe UI"/>
              </a:rPr>
              <a:t>eje de 35 subtipos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05138" y="2011680"/>
            <a:ext cx="252603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E8354F"/>
                </a:solidFill>
                <a:latin typeface="Segoe UI"/>
              </a:rPr>
              <a:t>centroides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05138" y="3063240"/>
            <a:ext cx="252603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12529"/>
                </a:solidFill>
                <a:latin typeface="Segoe UI"/>
              </a:rPr>
              <a:t>descartados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05138" y="3520440"/>
            <a:ext cx="252603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868E96"/>
                </a:solidFill>
                <a:latin typeface="Segoe UI"/>
              </a:rPr>
              <a:t>inventarían un hotspot por comisaría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539496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868E96"/>
                </a:solidFill>
                <a:latin typeface="Segoe UI"/>
              </a:rPr>
              <a:t>Todo ello está implementado en pipeline/ingest/profiles.py como un perfil declarativo, auditable sin tocar el código del pipeline.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